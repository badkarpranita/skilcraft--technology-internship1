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1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4" autoAdjust="0"/>
    <p:restoredTop sz="99500" autoAdjust="0"/>
  </p:normalViewPr>
  <p:slideViewPr>
    <p:cSldViewPr snapToGrid="0">
      <p:cViewPr varScale="1">
        <p:scale>
          <a:sx n="56" d="100"/>
          <a:sy n="56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721936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949756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840999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667658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40635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172634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072985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518215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515796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03449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83340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11" name="图片" descr="C0-HD-TOP.png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2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0" y="0"/>
            <a:ext cx="12192000" cy="144144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sp>
        <p:nvSpPr>
          <p:cNvPr id="8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8595360" y="6356349"/>
            <a:ext cx="291084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endParaRPr lang="zh-CN" altLang="en-US" sz="1050">
              <a:solidFill>
                <a:srgbClr val="FFFFFF"/>
              </a:solidFill>
              <a:latin typeface="Century Gothic" pitchFamily="0" charset="0"/>
              <a:ea typeface="宋体" pitchFamily="0" charset="0"/>
              <a:cs typeface="Century Gothic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685800" y="6355845"/>
            <a:ext cx="77724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050">
              <a:solidFill>
                <a:srgbClr val="FFFFFF"/>
              </a:solidFill>
              <a:latin typeface="Century Gothic" pitchFamily="0" charset="0"/>
              <a:ea typeface="宋体" pitchFamily="0" charset="0"/>
              <a:cs typeface="Century Gothic" pitchFamily="0" charset="0"/>
            </a:endParaRPr>
          </a:p>
        </p:txBody>
      </p:sp>
      <p:sp>
        <p:nvSpPr>
          <p:cNvPr id="10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763000" y="381000"/>
            <a:ext cx="2743200" cy="36512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050" b="0" i="0" u="none" strike="noStrike" kern="1200" cap="none" spc="0" baseline="0">
                <a:solidFill>
                  <a:srgbClr val="FFFFFF"/>
                </a:solidFill>
                <a:latin typeface="Century Gothic" pitchFamily="0" charset="0"/>
                <a:ea typeface="宋体" pitchFamily="0" charset="0"/>
                <a:cs typeface="Century Gothic" pitchFamily="0" charset="0"/>
              </a:rPr>
              <a:t>&lt;#&gt;</a:t>
            </a:fld>
            <a:endParaRPr lang="zh-CN" altLang="en-US" sz="1050">
              <a:solidFill>
                <a:srgbClr val="FFFFFF"/>
              </a:solidFill>
              <a:latin typeface="Century Gothic" pitchFamily="0" charset="0"/>
              <a:ea typeface="宋体" pitchFamily="0" charset="0"/>
              <a:cs typeface="Century Gothic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96253"/>
      </p:ext>
    </p:extLst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30" name="图片" descr="C0-HD-TOP.png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2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0" y="0"/>
            <a:ext cx="12192000" cy="144144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sp>
        <p:nvSpPr>
          <p:cNvPr id="2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2895600" y="762000"/>
            <a:ext cx="8610600" cy="12953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914409" y="2183802"/>
            <a:ext cx="5079990" cy="82391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lang="en-US" altLang="zh-CN" sz="2800" b="0">
                <a:solidFill>
                  <a:schemeClr val="tx1"/>
                </a:solidFill>
              </a:rPr>
              <a:t>Edit Master text styles</a:t>
            </a:r>
            <a:endParaRPr lang="zh-CN" altLang="en-US" sz="2800" b="0">
              <a:solidFill>
                <a:schemeClr val="tx1"/>
              </a:solidFill>
            </a:endParaRPr>
          </a:p>
        </p:txBody>
      </p:sp>
      <p:sp>
        <p:nvSpPr>
          <p:cNvPr id="24" name="文本框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 rot="0">
            <a:off x="685800" y="3132666"/>
            <a:ext cx="5311775" cy="308601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Edit Master text styles</a:t>
            </a:r>
            <a:endParaRPr lang="en-US" altLang="zh-CN"/>
          </a:p>
          <a:p xmlns:a="http://schemas.openxmlformats.org/drawingml/2006/main">
            <a:pPr lvl="1"/>
            <a:r>
              <a:rPr lang="en-US" altLang="zh-CN"/>
              <a:t>Second level</a:t>
            </a:r>
            <a:endParaRPr lang="en-US" altLang="zh-CN"/>
          </a:p>
          <a:p xmlns:a="http://schemas.openxmlformats.org/drawingml/2006/main">
            <a:pPr lvl="2"/>
            <a:r>
              <a:rPr lang="en-US" altLang="zh-CN"/>
              <a:t>Third level</a:t>
            </a:r>
            <a:endParaRPr lang="en-US" altLang="zh-CN"/>
          </a:p>
          <a:p xmlns:a="http://schemas.openxmlformats.org/drawingml/2006/main">
            <a:pPr lvl="3"/>
            <a:r>
              <a:rPr lang="en-US" altLang="zh-CN"/>
              <a:t>Fourth level</a:t>
            </a:r>
            <a:endParaRPr lang="en-US" altLang="zh-CN"/>
          </a:p>
          <a:p xmlns:a="http://schemas.openxmlformats.org/drawingml/2006/main"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25" name="文本框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 rot="0">
            <a:off x="6400800" y="2183802"/>
            <a:ext cx="5105400" cy="82391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lang="en-US" altLang="zh-CN" sz="2800" b="0">
                <a:solidFill>
                  <a:schemeClr val="tx1"/>
                </a:solidFill>
              </a:rPr>
              <a:t>Edit Master text styles</a:t>
            </a:r>
            <a:endParaRPr lang="zh-CN" altLang="en-US" sz="2800" b="0">
              <a:solidFill>
                <a:schemeClr val="tx1"/>
              </a:solidFill>
            </a:endParaRPr>
          </a:p>
        </p:txBody>
      </p:sp>
      <p:sp>
        <p:nvSpPr>
          <p:cNvPr id="26" name="文本框"/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 rot="0">
            <a:off x="6172200" y="3132666"/>
            <a:ext cx="5334000" cy="308601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Edit Master text styles</a:t>
            </a:r>
            <a:endParaRPr lang="en-US" altLang="zh-CN"/>
          </a:p>
          <a:p xmlns:a="http://schemas.openxmlformats.org/drawingml/2006/main">
            <a:pPr lvl="1"/>
            <a:r>
              <a:rPr lang="en-US" altLang="zh-CN"/>
              <a:t>Second level</a:t>
            </a:r>
            <a:endParaRPr lang="en-US" altLang="zh-CN"/>
          </a:p>
          <a:p xmlns:a="http://schemas.openxmlformats.org/drawingml/2006/main">
            <a:pPr lvl="2"/>
            <a:r>
              <a:rPr lang="en-US" altLang="zh-CN"/>
              <a:t>Third level</a:t>
            </a:r>
            <a:endParaRPr lang="en-US" altLang="zh-CN"/>
          </a:p>
          <a:p xmlns:a="http://schemas.openxmlformats.org/drawingml/2006/main">
            <a:pPr lvl="3"/>
            <a:r>
              <a:rPr lang="en-US" altLang="zh-CN"/>
              <a:t>Fourth level</a:t>
            </a:r>
            <a:endParaRPr lang="en-US" altLang="zh-CN"/>
          </a:p>
          <a:p xmlns:a="http://schemas.openxmlformats.org/drawingml/2006/main"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2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8595360" y="6356349"/>
            <a:ext cx="291084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endParaRPr lang="zh-CN" altLang="en-US" sz="1050">
              <a:solidFill>
                <a:srgbClr val="FFFFFF"/>
              </a:solidFill>
              <a:latin typeface="Century Gothic" pitchFamily="0" charset="0"/>
              <a:ea typeface="宋体" pitchFamily="0" charset="0"/>
              <a:cs typeface="Century Gothic" pitchFamily="0" charset="0"/>
            </a:endParaRPr>
          </a:p>
        </p:txBody>
      </p:sp>
      <p:sp>
        <p:nvSpPr>
          <p:cNvPr id="28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685800" y="6355845"/>
            <a:ext cx="77724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050">
              <a:solidFill>
                <a:srgbClr val="FFFFFF"/>
              </a:solidFill>
              <a:latin typeface="Century Gothic" pitchFamily="0" charset="0"/>
              <a:ea typeface="宋体" pitchFamily="0" charset="0"/>
              <a:cs typeface="Century Gothic" pitchFamily="0" charset="0"/>
            </a:endParaRPr>
          </a:p>
        </p:txBody>
      </p:sp>
      <p:sp>
        <p:nvSpPr>
          <p:cNvPr id="2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763000" y="381000"/>
            <a:ext cx="2743200" cy="36512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050" b="0" i="0" u="none" strike="noStrike" kern="1200" cap="none" spc="0" baseline="0">
                <a:solidFill>
                  <a:srgbClr val="FFFFFF"/>
                </a:solidFill>
                <a:latin typeface="Century Gothic" pitchFamily="0" charset="0"/>
                <a:ea typeface="宋体" pitchFamily="0" charset="0"/>
                <a:cs typeface="Century Gothic" pitchFamily="0" charset="0"/>
              </a:rPr>
              <a:t>&lt;#&gt;</a:t>
            </a:fld>
            <a:endParaRPr lang="zh-CN" altLang="en-US" sz="1050">
              <a:solidFill>
                <a:srgbClr val="FFFFFF"/>
              </a:solidFill>
              <a:latin typeface="Century Gothic" pitchFamily="0" charset="0"/>
              <a:ea typeface="宋体" pitchFamily="0" charset="0"/>
              <a:cs typeface="Century Gothic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30955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 descr="C0-HD-TOP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144144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" name="文本框"/>
          <p:cNvSpPr>
            <a:spLocks noGrp="1"/>
          </p:cNvSpPr>
          <p:nvPr>
            <p:ph type="title"/>
          </p:nvPr>
        </p:nvSpPr>
        <p:spPr>
          <a:xfrm rot="0">
            <a:off x="2895600" y="764372"/>
            <a:ext cx="8610600" cy="12930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idx="1"/>
          </p:nvPr>
        </p:nvSpPr>
        <p:spPr>
          <a:xfrm rot="0">
            <a:off x="685800" y="2194560"/>
            <a:ext cx="10820400" cy="4024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idx="2"/>
          </p:nvPr>
        </p:nvSpPr>
        <p:spPr>
          <a:xfrm rot="0">
            <a:off x="8595360" y="6356349"/>
            <a:ext cx="291084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050">
                <a:solidFill>
                  <a:srgbClr val="FFFFFF"/>
                </a:solidFill>
                <a:latin typeface="Century Gothic" pitchFamily="0" charset="0"/>
                <a:ea typeface="宋体" pitchFamily="0" charset="0"/>
                <a:cs typeface="Century Gothic" pitchFamily="0" charset="0"/>
              </a:rPr>
              <a:t>8/19/2026</a:t>
            </a:fld>
            <a:endParaRPr lang="zh-CN" altLang="en-US" sz="1050">
              <a:solidFill>
                <a:srgbClr val="FFFFFF"/>
              </a:solidFill>
              <a:latin typeface="Century Gothic" pitchFamily="0" charset="0"/>
              <a:ea typeface="宋体" pitchFamily="0" charset="0"/>
              <a:cs typeface="Century Gothic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idx="3"/>
          </p:nvPr>
        </p:nvSpPr>
        <p:spPr>
          <a:xfrm rot="0">
            <a:off x="685800" y="6355845"/>
            <a:ext cx="77724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endParaRPr lang="zh-CN" altLang="en-US" sz="1050">
              <a:solidFill>
                <a:srgbClr val="FFFFFF"/>
              </a:solidFill>
              <a:latin typeface="Century Gothic" pitchFamily="0" charset="0"/>
              <a:ea typeface="宋体" pitchFamily="0" charset="0"/>
              <a:cs typeface="Century Gothic" pitchFamily="0" charset="0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idx="4"/>
          </p:nvPr>
        </p:nvSpPr>
        <p:spPr>
          <a:xfrm rot="0">
            <a:off x="8763000" y="381000"/>
            <a:ext cx="2743200" cy="3651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050" b="0" i="0" u="none" strike="noStrike" kern="1200" cap="none" spc="0" baseline="0">
                <a:solidFill>
                  <a:srgbClr val="FFFFFF"/>
                </a:solidFill>
                <a:latin typeface="Century Gothic" pitchFamily="0" charset="0"/>
                <a:ea typeface="宋体" pitchFamily="0" charset="0"/>
                <a:cs typeface="Century Gothic" pitchFamily="0" charset="0"/>
              </a:rPr>
              <a:t>&lt;#&gt;</a:t>
            </a:fld>
            <a:endParaRPr lang="zh-CN" altLang="en-US" sz="1050">
              <a:solidFill>
                <a:srgbClr val="FFFFFF"/>
              </a:solidFill>
              <a:latin typeface="Century Gothic" pitchFamily="0" charset="0"/>
              <a:ea typeface="宋体" pitchFamily="0" charset="0"/>
              <a:cs typeface="Century Gothic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2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sldNum="0" hdr="0" ftr="0" dt="0"/>
  <p:txStyles>
    <p:titleStyle>
      <a:lvl1pPr algn="r" defTabSz="914400" eaLnBrk="1" fontAlgn="auto" latinLnBrk="0" hangingPunct="1">
        <a:lnSpc>
          <a:spcPct val="90000"/>
        </a:lnSpc>
        <a:spcBef>
          <a:spcPts val="0"/>
        </a:spcBef>
        <a:buNone/>
        <a:defRPr sz="4000" kern="1200" cap="all" baseline="0">
          <a:solidFill>
            <a:schemeClr val="tx1"/>
          </a:solidFill>
          <a:latin typeface="Century Gothic" pitchFamily="0" charset="0"/>
          <a:ea typeface="宋体" pitchFamily="0" charset="0"/>
          <a:cs typeface="Century Gothic" pitchFamily="0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Century Gothic" pitchFamily="0" charset="0"/>
          <a:ea typeface="宋体" pitchFamily="0" charset="0"/>
          <a:cs typeface="Century Gothic" pitchFamily="0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entury Gothic" pitchFamily="0" charset="0"/>
          <a:ea typeface="宋体" pitchFamily="0" charset="0"/>
          <a:cs typeface="Century Gothic" pitchFamily="0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entury Gothic" pitchFamily="0" charset="0"/>
          <a:ea typeface="宋体" pitchFamily="0" charset="0"/>
          <a:cs typeface="Century Gothic" pitchFamily="0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entury Gothic" pitchFamily="0" charset="0"/>
          <a:ea typeface="宋体" pitchFamily="0" charset="0"/>
          <a:cs typeface="Century Gothic" pitchFamily="0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entury Gothic" pitchFamily="0" charset="0"/>
          <a:ea typeface="宋体" pitchFamily="0" charset="0"/>
          <a:cs typeface="Century Gothic" pitchFamily="0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entury Gothic" pitchFamily="0" charset="0"/>
          <a:ea typeface="宋体" pitchFamily="0" charset="0"/>
          <a:cs typeface="Century Gothic" pitchFamily="0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entury Gothic" pitchFamily="0" charset="0"/>
          <a:ea typeface="宋体" pitchFamily="0" charset="0"/>
          <a:cs typeface="Century Gothic" pitchFamily="0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entury Gothic" pitchFamily="0" charset="0"/>
          <a:ea typeface="宋体" pitchFamily="0" charset="0"/>
          <a:cs typeface="Century Gothic" pitchFamily="0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entury Gothic" pitchFamily="0" charset="0"/>
          <a:ea typeface="宋体" pitchFamily="0" charset="0"/>
          <a:cs typeface="Century Gothic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2.jpeg"/><Relationship Id="rId2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3.png"/><Relationship Id="rId2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"/>
          <p:cNvPicPr>
            <a:picLocks noChangeAspect="1"/>
          </p:cNvPicPr>
          <p:nvPr/>
        </p:nvPicPr>
        <p:blipFill>
          <a:blip r:embed="rId1" cstate="print"/>
          <a:srcRect t="2639" b="2361" l="2600" r="2300"/>
          <a:stretch>
            <a:fillRect/>
          </a:stretch>
        </p:blipFill>
        <p:spPr>
          <a:xfrm rot="0">
            <a:off x="1" y="0"/>
            <a:ext cx="12192000" cy="6857999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52256310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"/>
          <p:cNvSpPr>
            <a:spLocks/>
          </p:cNvSpPr>
          <p:nvPr/>
        </p:nvSpPr>
        <p:spPr>
          <a:xfrm rot="0">
            <a:off x="495301" y="828676"/>
            <a:ext cx="9553574" cy="7581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Algerian" pitchFamily="82" charset="0"/>
                <a:ea typeface="宋体" pitchFamily="0" charset="0"/>
                <a:cs typeface="Century Gothic" pitchFamily="0" charset="0"/>
              </a:rPr>
              <a:t>Introduction :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Algerian" pitchFamily="82" charset="0"/>
              <a:ea typeface="宋体" pitchFamily="0" charset="0"/>
              <a:cs typeface="Century Gothic" pitchFamily="0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 rot="0">
            <a:off x="875900" y="2002055"/>
            <a:ext cx="9991022" cy="437769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altLang="zh-CN" sz="2800" b="0" i="0" u="none" strike="noStrike" kern="1200" cap="none" spc="0" baseline="0">
                <a:solidFill>
                  <a:srgbClr val="FFCDA3"/>
                </a:solidFill>
                <a:latin typeface="Bahnschrift" pitchFamily="34" charset="0"/>
                <a:ea typeface="宋体" pitchFamily="0" charset="0"/>
                <a:cs typeface="Century Gothic" pitchFamily="0" charset="0"/>
              </a:rPr>
              <a:t>Many college students  miss the assignment because they have multiple subjects , busy schedules and poor time management.</a:t>
            </a:r>
            <a:endParaRPr lang="en-US" altLang="zh-CN" sz="2800" b="0" i="0" u="none" strike="noStrike" kern="1200" cap="none" spc="0" baseline="0">
              <a:solidFill>
                <a:srgbClr val="FFCDA3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0" i="0" u="none" strike="noStrike" kern="1200" cap="none" spc="0" baseline="0">
              <a:solidFill>
                <a:srgbClr val="FFCDA3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altLang="zh-CN" sz="2800" b="0" i="0" u="none" strike="noStrike" kern="1200" cap="none" spc="0" baseline="0">
                <a:solidFill>
                  <a:srgbClr val="FFCDA3"/>
                </a:solidFill>
                <a:latin typeface="Bahnschrift" pitchFamily="34" charset="0"/>
                <a:ea typeface="宋体" pitchFamily="0" charset="0"/>
                <a:cs typeface="Century Gothic" pitchFamily="0" charset="0"/>
              </a:rPr>
              <a:t>Missing deadlines affects their grades , confidence and academic performance.</a:t>
            </a:r>
            <a:endParaRPr lang="en-US" altLang="zh-CN" sz="2800" b="0" i="0" u="none" strike="noStrike" kern="1200" cap="none" spc="0" baseline="0">
              <a:solidFill>
                <a:srgbClr val="FFCDA3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0" i="0" u="none" strike="noStrike" kern="1200" cap="none" spc="0" baseline="0">
              <a:solidFill>
                <a:srgbClr val="FFCDA3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altLang="zh-CN" sz="2800" b="0" i="0" u="none" strike="noStrike" kern="1200" cap="none" spc="0" baseline="0">
                <a:solidFill>
                  <a:srgbClr val="FFCDA3"/>
                </a:solidFill>
                <a:latin typeface="Bahnschrift" pitchFamily="34" charset="0"/>
                <a:ea typeface="宋体" pitchFamily="0" charset="0"/>
                <a:cs typeface="Century Gothic" pitchFamily="0" charset="0"/>
              </a:rPr>
              <a:t>This leads to stress, lower grades . affects their overall academic performance.</a:t>
            </a:r>
            <a:endParaRPr lang="en-US" altLang="zh-CN" sz="2800" b="0" i="0" u="none" strike="noStrike" kern="1200" cap="none" spc="0" baseline="0">
              <a:solidFill>
                <a:srgbClr val="FFCDA3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898492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 rot="0">
            <a:off x="442762" y="1106904"/>
            <a:ext cx="6316580" cy="6343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chemeClr val="tx1"/>
                </a:solidFill>
                <a:latin typeface="Algerian" pitchFamily="82" charset="0"/>
                <a:ea typeface="宋体" pitchFamily="0" charset="0"/>
                <a:cs typeface="Century Gothic" pitchFamily="0" charset="0"/>
              </a:rPr>
              <a:t>Problem statement: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entury Gothic" pitchFamily="0" charset="0"/>
              <a:ea typeface="宋体" pitchFamily="0" charset="0"/>
              <a:cs typeface="Century Gothic" pitchFamily="0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 rot="0">
            <a:off x="442762" y="2127183"/>
            <a:ext cx="10385659" cy="40824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FEB476"/>
                </a:solidFill>
                <a:latin typeface="Bahnschrift" pitchFamily="34" charset="0"/>
                <a:ea typeface="宋体" pitchFamily="0" charset="0"/>
                <a:cs typeface="Century Gothic" pitchFamily="0" charset="0"/>
              </a:rPr>
              <a:t>Student often struggle to remember assignment deadlines due to:--</a:t>
            </a:r>
            <a:endParaRPr lang="en-US" altLang="zh-CN" sz="3200" b="0" i="0" u="none" strike="noStrike" kern="1200" cap="none" spc="0" baseline="0">
              <a:solidFill>
                <a:srgbClr val="FEB476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rgbClr val="82E0CE"/>
                </a:solidFill>
                <a:latin typeface="Bahnschrift" pitchFamily="34" charset="0"/>
                <a:ea typeface="宋体" pitchFamily="0" charset="0"/>
                <a:cs typeface="Century Gothic" pitchFamily="0" charset="0"/>
              </a:rPr>
              <a:t>Multiple assignments from different subjects.</a:t>
            </a:r>
            <a:endParaRPr lang="en-US" altLang="zh-CN" sz="2400" b="0" i="0" u="none" strike="noStrike" kern="1200" cap="none" spc="0" baseline="0">
              <a:solidFill>
                <a:srgbClr val="82E0CE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rgbClr val="82E0CE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rgbClr val="82E0CE"/>
                </a:solidFill>
                <a:latin typeface="Bahnschrift" pitchFamily="34" charset="0"/>
                <a:ea typeface="宋体" pitchFamily="0" charset="0"/>
                <a:cs typeface="Century Gothic" pitchFamily="0" charset="0"/>
              </a:rPr>
              <a:t>Lack of reminders.</a:t>
            </a:r>
            <a:endParaRPr lang="en-US" altLang="zh-CN" sz="2400" b="0" i="0" u="none" strike="noStrike" kern="1200" cap="none" spc="0" baseline="0">
              <a:solidFill>
                <a:srgbClr val="82E0CE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altLang="zh-CN" sz="2400" b="0" i="0" u="none" strike="noStrike" kern="1200" cap="none" spc="0" baseline="0">
              <a:solidFill>
                <a:srgbClr val="82E0CE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rgbClr val="82E0CE"/>
                </a:solidFill>
                <a:latin typeface="Bahnschrift" pitchFamily="34" charset="0"/>
                <a:ea typeface="宋体" pitchFamily="0" charset="0"/>
                <a:cs typeface="Century Gothic" pitchFamily="0" charset="0"/>
              </a:rPr>
              <a:t>Poor time management.</a:t>
            </a:r>
            <a:endParaRPr lang="en-US" altLang="zh-CN" sz="2400" b="0" i="0" u="none" strike="noStrike" kern="1200" cap="none" spc="0" baseline="0">
              <a:solidFill>
                <a:srgbClr val="82E0CE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rgbClr val="82E0CE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rgbClr val="82E0CE"/>
                </a:solidFill>
                <a:latin typeface="Bahnschrift" pitchFamily="34" charset="0"/>
                <a:ea typeface="宋体" pitchFamily="0" charset="0"/>
                <a:cs typeface="Century Gothic" pitchFamily="0" charset="0"/>
              </a:rPr>
              <a:t>Busy academic schedule.</a:t>
            </a:r>
            <a:endParaRPr lang="zh-CN" altLang="en-US" sz="2400" b="0" i="0" u="none" strike="noStrike" kern="1200" cap="none" spc="0" baseline="0">
              <a:solidFill>
                <a:srgbClr val="82E0CE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872769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>
            <a:spLocks/>
          </p:cNvSpPr>
          <p:nvPr/>
        </p:nvSpPr>
        <p:spPr>
          <a:xfrm rot="0">
            <a:off x="5640404" y="2974206"/>
            <a:ext cx="914400" cy="9144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" name="矩形"/>
          <p:cNvSpPr>
            <a:spLocks/>
          </p:cNvSpPr>
          <p:nvPr/>
        </p:nvSpPr>
        <p:spPr>
          <a:xfrm rot="0">
            <a:off x="371474" y="490086"/>
            <a:ext cx="11172423" cy="612076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Algerian" pitchFamily="82" charset="0"/>
                <a:ea typeface="宋体" pitchFamily="0" charset="0"/>
                <a:cs typeface="Century Gothic" pitchFamily="0" charset="0"/>
              </a:rPr>
              <a:t>Target audience :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Algerian" pitchFamily="82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Algerian" pitchFamily="82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400" b="1" i="0" u="none" strike="noStrike" kern="1200" cap="none" spc="0" baseline="0">
                <a:solidFill>
                  <a:srgbClr val="B4D78D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Primary Target Audience</a:t>
            </a: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:</a:t>
            </a: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Bahnschrift Light" pitchFamily="34" charset="0"/>
                <a:ea typeface="宋体" pitchFamily="0" charset="0"/>
                <a:cs typeface="Century Gothic" pitchFamily="0" charset="0"/>
              </a:rPr>
              <a:t>      </a:t>
            </a:r>
            <a:r>
              <a:rPr lang="en-US" altLang="zh-CN" sz="2400" b="0" i="0" u="none" strike="noStrike" kern="1200" cap="none" spc="0" baseline="0">
                <a:solidFill>
                  <a:srgbClr val="C4C4C4"/>
                </a:solidFill>
                <a:latin typeface="Bahnschrift Light" pitchFamily="34" charset="0"/>
                <a:ea typeface="宋体" pitchFamily="0" charset="0"/>
                <a:cs typeface="Century Gothic" pitchFamily="0" charset="0"/>
              </a:rPr>
              <a:t>College and University Students.</a:t>
            </a:r>
            <a:endParaRPr lang="en-US" altLang="zh-CN" sz="2400" b="0" i="0" u="none" strike="noStrike" kern="1200" cap="none" spc="0" baseline="0">
              <a:solidFill>
                <a:srgbClr val="C4C4C4"/>
              </a:solidFill>
              <a:latin typeface="Bahnschrift Light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400" b="0" i="0" u="none" strike="noStrike" kern="1200" cap="none" spc="0" baseline="0">
              <a:solidFill>
                <a:srgbClr val="C4C4C4"/>
              </a:solidFill>
              <a:latin typeface="Bahnschrift Light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400" b="1" i="0" u="none" strike="noStrike" kern="1200" cap="none" spc="0" baseline="0">
                <a:solidFill>
                  <a:srgbClr val="B4D78D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Who are they?</a:t>
            </a:r>
            <a:endParaRPr lang="en-US" altLang="zh-CN" sz="2400" b="1" i="0" u="none" strike="noStrike" kern="1200" cap="none" spc="0" baseline="0">
              <a:solidFill>
                <a:srgbClr val="B4D78D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000" b="1" i="0" u="none" strike="noStrike" kern="1200" cap="none" spc="0" baseline="0">
                <a:solidFill>
                  <a:srgbClr val="EC817E"/>
                </a:solidFill>
                <a:latin typeface="Bahnschrift" pitchFamily="34" charset="0"/>
                <a:ea typeface="宋体" pitchFamily="0" charset="0"/>
                <a:cs typeface="Century Gothic" pitchFamily="0" charset="0"/>
              </a:rPr>
              <a:t>Students managing multiple subjects and assignments.</a:t>
            </a:r>
            <a:endParaRPr lang="en-US" altLang="zh-CN" sz="2000" b="1" i="0" u="none" strike="noStrike" kern="1200" cap="none" spc="0" baseline="0">
              <a:solidFill>
                <a:srgbClr val="EC817E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altLang="zh-CN" sz="2000" b="1" i="0" u="none" strike="noStrike" kern="1200" cap="none" spc="0" baseline="0">
              <a:solidFill>
                <a:srgbClr val="EC817E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000" b="1" i="0" u="none" strike="noStrike" kern="1200" cap="none" spc="0" baseline="0">
                <a:solidFill>
                  <a:srgbClr val="EC817E"/>
                </a:solidFill>
                <a:latin typeface="Bahnschrift" pitchFamily="34" charset="0"/>
                <a:ea typeface="宋体" pitchFamily="0" charset="0"/>
                <a:cs typeface="Century Gothic" pitchFamily="0" charset="0"/>
              </a:rPr>
              <a:t>Students who struggle with time management.</a:t>
            </a:r>
            <a:endParaRPr lang="en-US" altLang="zh-CN" sz="2000" b="1" i="0" u="none" strike="noStrike" kern="1200" cap="none" spc="0" baseline="0">
              <a:solidFill>
                <a:srgbClr val="EC817E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altLang="zh-CN" sz="2000" b="1" i="0" u="none" strike="noStrike" kern="1200" cap="none" spc="0" baseline="0">
              <a:solidFill>
                <a:srgbClr val="EC817E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000" b="1" i="0" u="none" strike="noStrike" kern="1200" cap="none" spc="0" baseline="0">
                <a:solidFill>
                  <a:srgbClr val="EC817E"/>
                </a:solidFill>
                <a:latin typeface="Bahnschrift" pitchFamily="34" charset="0"/>
                <a:ea typeface="宋体" pitchFamily="0" charset="0"/>
                <a:cs typeface="Century Gothic" pitchFamily="0" charset="0"/>
              </a:rPr>
              <a:t>Students who sometimes forget assignment deadlines.</a:t>
            </a:r>
            <a:endParaRPr lang="en-US" altLang="zh-CN" sz="2000" b="1" i="0" u="none" strike="noStrike" kern="1200" cap="none" spc="0" baseline="0">
              <a:solidFill>
                <a:srgbClr val="EC817E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altLang="zh-CN" sz="2000" b="1" i="0" u="none" strike="noStrike" kern="1200" cap="none" spc="0" baseline="0">
              <a:solidFill>
                <a:srgbClr val="EC817E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000" b="1" i="0" u="none" strike="noStrike" kern="1200" cap="none" spc="0" baseline="0">
                <a:solidFill>
                  <a:srgbClr val="EC817E"/>
                </a:solidFill>
                <a:latin typeface="Bahnschrift" pitchFamily="34" charset="0"/>
                <a:ea typeface="宋体" pitchFamily="0" charset="0"/>
                <a:cs typeface="Century Gothic" pitchFamily="0" charset="0"/>
              </a:rPr>
              <a:t>Student who use smartphones regularly</a:t>
            </a:r>
            <a:endParaRPr lang="en-US" altLang="zh-CN" sz="2000" b="1" i="0" u="none" strike="noStrike" kern="1200" cap="none" spc="0" baseline="0">
              <a:solidFill>
                <a:srgbClr val="EC817E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1200" cap="none" spc="0" baseline="0">
              <a:solidFill>
                <a:schemeClr val="tx1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1" i="0" u="none" strike="noStrike" kern="1200" cap="none" spc="0" baseline="0">
                <a:solidFill>
                  <a:srgbClr val="B4D78D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Main goal:</a:t>
            </a:r>
            <a:endParaRPr lang="en-US" altLang="zh-CN" sz="2000" b="1" i="0" u="none" strike="noStrike" kern="1200" cap="none" spc="0" baseline="0">
              <a:solidFill>
                <a:srgbClr val="B4D78D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000" b="1" i="0" u="none" strike="noStrike" kern="1200" cap="none" spc="0" baseline="0">
                <a:solidFill>
                  <a:srgbClr val="2475B8"/>
                </a:solidFill>
                <a:latin typeface="Bahnschrift" pitchFamily="34" charset="0"/>
                <a:ea typeface="宋体" pitchFamily="0" charset="0"/>
                <a:cs typeface="Century Gothic" pitchFamily="0" charset="0"/>
              </a:rPr>
              <a:t>Help students stay organized and submit assignment on time</a:t>
            </a:r>
            <a:endParaRPr lang="en-US" altLang="zh-CN" sz="3200" b="1" i="0" u="none" strike="noStrike" kern="1200" cap="none" spc="0" baseline="0">
              <a:solidFill>
                <a:srgbClr val="2475B8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altLang="zh-CN" sz="2000" b="1" i="0" u="none" strike="noStrike" kern="1200" cap="none" spc="0" baseline="0">
              <a:solidFill>
                <a:srgbClr val="2475B8"/>
              </a:solidFill>
              <a:latin typeface="Bahnschrift" pitchFamily="34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Bahnschrift Light" pitchFamily="34" charset="0"/>
              <a:ea typeface="宋体" pitchFamily="0" charset="0"/>
              <a:cs typeface="Century Gothic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067065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"/>
          <p:cNvSpPr>
            <a:spLocks/>
          </p:cNvSpPr>
          <p:nvPr/>
        </p:nvSpPr>
        <p:spPr>
          <a:xfrm rot="0">
            <a:off x="152400" y="257175"/>
            <a:ext cx="11830050" cy="597789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Algerian" pitchFamily="82" charset="0"/>
                <a:ea typeface="宋体" pitchFamily="0" charset="0"/>
                <a:cs typeface="Century Gothic" pitchFamily="0" charset="0"/>
              </a:rPr>
              <a:t>User persona :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Algerian" pitchFamily="82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E6F1D9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Name :- Rohit Sharma.</a:t>
            </a:r>
            <a:endParaRPr lang="en-US" altLang="zh-CN" sz="2000" b="0" i="0" u="none" strike="noStrike" kern="1200" cap="none" spc="0" baseline="0">
              <a:solidFill>
                <a:srgbClr val="E6F1D9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rgbClr val="E6F1D9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E6F1D9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Age :-  20 years.</a:t>
            </a:r>
            <a:endParaRPr lang="en-US" altLang="zh-CN" sz="2000" b="0" i="0" u="none" strike="noStrike" kern="1200" cap="none" spc="0" baseline="0">
              <a:solidFill>
                <a:srgbClr val="E6F1D9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rgbClr val="E6F1D9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E6F1D9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Occupation :- </a:t>
            </a:r>
            <a:r>
              <a:rPr lang="en-US" altLang="zh-CN" sz="2000" b="0" i="0" u="none" strike="noStrike" kern="1200" cap="none" spc="0" baseline="0">
                <a:solidFill>
                  <a:srgbClr val="E6F1D9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B.Tech</a:t>
            </a:r>
            <a:r>
              <a:rPr lang="en-US" altLang="zh-CN" sz="2000" b="0" i="0" u="none" strike="noStrike" kern="1200" cap="none" spc="0" baseline="0">
                <a:solidFill>
                  <a:srgbClr val="E6F1D9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 Student.</a:t>
            </a:r>
            <a:endParaRPr lang="en-US" altLang="zh-CN" sz="2000" b="0" i="0" u="none" strike="noStrike" kern="1200" cap="none" spc="0" baseline="0">
              <a:solidFill>
                <a:srgbClr val="E6F1D9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rgbClr val="E6F1D9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E6F1D9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Education :- 2</a:t>
            </a:r>
            <a:r>
              <a:rPr lang="en-US" altLang="zh-CN" sz="2000" b="0" i="0" u="none" strike="noStrike" kern="1200" cap="none" spc="0" baseline="30000">
                <a:solidFill>
                  <a:srgbClr val="E6F1D9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nd</a:t>
            </a:r>
            <a:r>
              <a:rPr lang="en-US" altLang="zh-CN" sz="2000" b="0" i="0" u="none" strike="noStrike" kern="1200" cap="none" spc="0" baseline="0">
                <a:solidFill>
                  <a:srgbClr val="E6F1D9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 year Engineering Student .</a:t>
            </a:r>
            <a:endParaRPr lang="en-US" altLang="zh-CN" sz="2000" b="0" i="0" u="none" strike="noStrike" kern="1200" cap="none" spc="0" baseline="0">
              <a:solidFill>
                <a:srgbClr val="E6F1D9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E6F1D9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 </a:t>
            </a:r>
            <a:endParaRPr lang="en-US" altLang="zh-CN" sz="2000" b="0" i="0" u="none" strike="noStrike" kern="1200" cap="none" spc="0" baseline="0">
              <a:solidFill>
                <a:srgbClr val="E6F1D9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E6F1D9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Location :- India.</a:t>
            </a:r>
            <a:endParaRPr lang="en-US" altLang="zh-CN" sz="2000" b="0" i="0" u="none" strike="noStrike" kern="1200" cap="none" spc="0" baseline="0">
              <a:solidFill>
                <a:srgbClr val="E6F1D9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rgbClr val="E6F1D9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E6F1D9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Personality :- Responsible, but sometimes forgetful and busy.</a:t>
            </a:r>
            <a:endParaRPr lang="en-US" altLang="zh-CN" sz="2000" b="0" i="0" u="none" strike="noStrike" kern="1200" cap="none" spc="0" baseline="0">
              <a:solidFill>
                <a:srgbClr val="E6F1D9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rgbClr val="E6F1D9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E6F1D9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Technology Usage :-  Smartphones, laptop, Google </a:t>
            </a:r>
            <a:r>
              <a:rPr lang="en-US" altLang="zh-CN" sz="2000" b="0" i="0" u="none" strike="noStrike" kern="1200" cap="none" spc="0" baseline="0">
                <a:solidFill>
                  <a:srgbClr val="E6F1D9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Calender</a:t>
            </a:r>
            <a:r>
              <a:rPr lang="en-US" altLang="zh-CN" sz="2000" b="0" i="0" u="none" strike="noStrike" kern="1200" cap="none" spc="0" baseline="0">
                <a:solidFill>
                  <a:srgbClr val="E6F1D9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 and messaging apps. </a:t>
            </a:r>
            <a:endParaRPr lang="en-US" altLang="zh-CN" sz="2000" b="0" i="0" u="none" strike="noStrike" kern="1200" cap="none" spc="0" baseline="0">
              <a:solidFill>
                <a:srgbClr val="E6F1D9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92C2EA"/>
                </a:solidFill>
                <a:latin typeface="Cooper Black" pitchFamily="18" charset="0"/>
                <a:ea typeface="宋体" pitchFamily="0" charset="0"/>
                <a:cs typeface="Century Gothic" pitchFamily="0" charset="0"/>
              </a:rPr>
              <a:t>Quote:</a:t>
            </a:r>
            <a:endParaRPr lang="en-US" altLang="zh-CN" sz="3200" b="0" i="0" u="none" strike="noStrike" kern="1200" cap="none" spc="0" baseline="0">
              <a:solidFill>
                <a:srgbClr val="92C2EA"/>
              </a:solidFill>
              <a:latin typeface="Cooper Black" pitchFamily="18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92C2EA"/>
                </a:solidFill>
                <a:latin typeface="Cooper Black" pitchFamily="18" charset="0"/>
                <a:ea typeface="宋体" pitchFamily="0" charset="0"/>
                <a:cs typeface="Century Gothic" pitchFamily="0" charset="0"/>
              </a:rPr>
              <a:t>“</a:t>
            </a:r>
            <a:r>
              <a:rPr lang="en-US" altLang="zh-CN" sz="2000" b="0" i="0" u="none" strike="noStrike" kern="1200" cap="none" spc="0" baseline="0">
                <a:solidFill>
                  <a:srgbClr val="92C2EA"/>
                </a:solidFill>
                <a:latin typeface="Cooper Black" pitchFamily="18" charset="0"/>
                <a:ea typeface="宋体" pitchFamily="0" charset="0"/>
                <a:cs typeface="Century Gothic" pitchFamily="0" charset="0"/>
              </a:rPr>
              <a:t>I want to submit all my assignment on time but sometimes I forget the deadlines.”</a:t>
            </a:r>
            <a:endParaRPr lang="en-US" altLang="zh-CN" sz="3200" b="0" i="0" u="none" strike="noStrike" kern="1200" cap="none" spc="0" baseline="0">
              <a:solidFill>
                <a:srgbClr val="92C2EA"/>
              </a:solidFill>
              <a:latin typeface="Cooper Black" pitchFamily="18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728047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"/>
          <p:cNvSpPr>
            <a:spLocks/>
          </p:cNvSpPr>
          <p:nvPr/>
        </p:nvSpPr>
        <p:spPr>
          <a:xfrm rot="0">
            <a:off x="676275" y="85725"/>
            <a:ext cx="8715374" cy="62160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Algerian" pitchFamily="82" charset="0"/>
                <a:ea typeface="宋体" pitchFamily="0" charset="0"/>
                <a:cs typeface="Century Gothic" pitchFamily="0" charset="0"/>
              </a:rPr>
              <a:t>User goals and needs :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Algerian" pitchFamily="82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Algerian" pitchFamily="82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altLang="zh-CN" sz="2400" b="0" i="0" u="none" strike="noStrike" kern="1200" cap="none" spc="0" baseline="0">
                <a:solidFill>
                  <a:srgbClr val="F6E5A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User goals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rgbClr val="82E0C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Submit assignments on time. </a:t>
            </a:r>
            <a:endParaRPr lang="en-US" altLang="zh-CN" sz="2000" b="0" i="0" u="none" strike="noStrike" kern="1200" cap="none" spc="0" baseline="0">
              <a:solidFill>
                <a:srgbClr val="82E0C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rgbClr val="82E0C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2"/>
            </a:pPr>
            <a:r>
              <a:rPr lang="en-US" altLang="zh-CN" sz="2000" b="0" i="0" u="none" strike="noStrike" kern="1200" cap="none" spc="0" baseline="0">
                <a:solidFill>
                  <a:srgbClr val="82E0C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Improve academic performance.</a:t>
            </a:r>
            <a:endParaRPr lang="en-US" altLang="zh-CN" sz="2000" b="0" i="0" u="none" strike="noStrike" kern="1200" cap="none" spc="0" baseline="0">
              <a:solidFill>
                <a:srgbClr val="82E0C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rgbClr val="82E0C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82E0C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3.	Manage study time effectively .</a:t>
            </a:r>
            <a:endParaRPr lang="en-US" altLang="zh-CN" sz="2000" b="0" i="0" u="none" strike="noStrike" kern="1200" cap="none" spc="0" baseline="0">
              <a:solidFill>
                <a:srgbClr val="82E0C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rgbClr val="82E0C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82E0C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4.   Stay organized with multiple assignments.</a:t>
            </a:r>
            <a:endParaRPr lang="en-US" altLang="zh-CN" sz="2000" b="0" i="0" u="none" strike="noStrike" kern="1200" cap="none" spc="0" baseline="0">
              <a:solidFill>
                <a:srgbClr val="82E0C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altLang="zh-CN" sz="2400" b="0" i="0" u="none" strike="noStrike" kern="1200" cap="none" spc="0" baseline="0">
                <a:solidFill>
                  <a:srgbClr val="F6E5A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User needs:</a:t>
            </a:r>
            <a:endParaRPr lang="en-US" altLang="zh-CN" sz="2400" b="0" i="0" u="none" strike="noStrike" kern="1200" cap="none" spc="0" baseline="0">
              <a:solidFill>
                <a:srgbClr val="F6E5A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rgbClr val="ACEAD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Timely assignment reminders .</a:t>
            </a:r>
            <a:endParaRPr lang="en-US" altLang="zh-CN" sz="20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endParaRPr lang="en-US" altLang="zh-CN" sz="20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rgbClr val="ACEAD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Easy task and deadline tracking .</a:t>
            </a:r>
            <a:endParaRPr lang="en-US" altLang="zh-CN" sz="20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endParaRPr lang="en-US" altLang="zh-CN" sz="20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rgbClr val="ACEAD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A simple and organized interface .</a:t>
            </a:r>
            <a:endParaRPr lang="en-US" altLang="zh-CN" sz="20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endParaRPr lang="en-US" altLang="zh-CN" sz="20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rgbClr val="ACEAD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Calender</a:t>
            </a:r>
            <a:r>
              <a:rPr lang="en-US" altLang="zh-CN" sz="2000" b="0" i="0" u="none" strike="noStrike" kern="1200" cap="none" spc="0" baseline="0">
                <a:solidFill>
                  <a:srgbClr val="ACEAD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-based scheduling.</a:t>
            </a:r>
            <a:endParaRPr lang="zh-CN" altLang="en-US" sz="20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74574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"/>
          <p:cNvSpPr>
            <a:spLocks/>
          </p:cNvSpPr>
          <p:nvPr/>
        </p:nvSpPr>
        <p:spPr>
          <a:xfrm flipV="1" rot="10800000">
            <a:off x="495299" y="776320"/>
            <a:ext cx="10382249" cy="53860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Algerian" pitchFamily="82" charset="0"/>
                <a:ea typeface="宋体" pitchFamily="0" charset="0"/>
                <a:cs typeface="Century Gothic" pitchFamily="0" charset="0"/>
              </a:rPr>
              <a:t>Pain points :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Algerian" pitchFamily="82" charset="0"/>
              <a:ea typeface="宋体" pitchFamily="0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rgbClr val="ACEAD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Often forget assignment deadlines.</a:t>
            </a:r>
            <a:endParaRPr lang="en-US" altLang="zh-CN" sz="24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altLang="zh-CN" sz="24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rgbClr val="ACEAD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Has multiple assignments from different subjects.</a:t>
            </a:r>
            <a:endParaRPr lang="en-US" altLang="zh-CN" sz="24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altLang="zh-CN" sz="24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rgbClr val="ACEAD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Finds it difficult to manage time effectively.</a:t>
            </a:r>
            <a:endParaRPr lang="en-US" altLang="zh-CN" sz="24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altLang="zh-CN" sz="24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rgbClr val="ACEAD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Receives reminders too late or not at all.</a:t>
            </a:r>
            <a:endParaRPr lang="en-US" altLang="zh-CN" sz="24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altLang="zh-CN" sz="24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rgbClr val="ACEAD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Feels stressed when deadlines are approaching.</a:t>
            </a:r>
            <a:endParaRPr lang="en-US" altLang="zh-CN" sz="24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altLang="zh-CN" sz="24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rgbClr val="ACEADE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Sometimes has to complete assignments at the last minute .</a:t>
            </a:r>
            <a:endParaRPr lang="en-US" altLang="zh-CN" sz="2400" b="0" i="0" u="none" strike="noStrike" kern="1200" cap="none" spc="0" baseline="0">
              <a:solidFill>
                <a:srgbClr val="ACEADE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56762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>
            <a:spLocks noGrp="1"/>
          </p:cNvSpPr>
          <p:nvPr>
            <p:ph type="title"/>
          </p:nvPr>
        </p:nvSpPr>
        <p:spPr>
          <a:xfrm rot="0">
            <a:off x="3705224" y="133350"/>
            <a:ext cx="7800974" cy="12382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0" i="0" u="none" strike="noStrike" kern="1200" cap="all" spc="0" baseline="0">
                <a:solidFill>
                  <a:srgbClr val="F2F2F2"/>
                </a:solidFill>
                <a:latin typeface="Algerian" pitchFamily="82" charset="0"/>
                <a:ea typeface="宋体" pitchFamily="0" charset="0"/>
                <a:cs typeface="Lucida Sans"/>
              </a:rPr>
              <a:t>Empathy map : think &amp; says    </a:t>
            </a:r>
            <a:endParaRPr lang="zh-CN" altLang="en-US" sz="4000" b="0" i="0" u="none" strike="noStrike" kern="1200" cap="all" spc="0" baseline="0">
              <a:solidFill>
                <a:srgbClr val="F2F2F2"/>
              </a:solidFill>
              <a:latin typeface="Algerian" pitchFamily="82" charset="0"/>
              <a:ea typeface="宋体" pitchFamily="0" charset="0"/>
              <a:cs typeface="Lucida Sans"/>
            </a:endParaRPr>
          </a:p>
        </p:txBody>
      </p:sp>
      <p:sp>
        <p:nvSpPr>
          <p:cNvPr id="32" name="文本框"/>
          <p:cNvSpPr>
            <a:spLocks noGrp="1"/>
          </p:cNvSpPr>
          <p:nvPr>
            <p:ph type="body" idx="1"/>
          </p:nvPr>
        </p:nvSpPr>
        <p:spPr>
          <a:xfrm rot="0">
            <a:off x="682625" y="1143000"/>
            <a:ext cx="5311775" cy="5429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79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ooper Black" pitchFamily="18" charset="0"/>
                <a:ea typeface="宋体" pitchFamily="0" charset="0"/>
                <a:cs typeface="Lucida Sans"/>
              </a:rPr>
              <a:t>             </a:t>
            </a:r>
            <a:r>
              <a:rPr lang="en-US" altLang="zh-CN" sz="3600" b="0" i="0" u="none" strike="noStrike" kern="1200" cap="none" spc="0" baseline="0">
                <a:solidFill>
                  <a:srgbClr val="EC817E"/>
                </a:solidFill>
                <a:latin typeface="Cooper Black" pitchFamily="18" charset="0"/>
                <a:ea typeface="宋体" pitchFamily="0" charset="0"/>
                <a:cs typeface="Lucida Sans"/>
              </a:rPr>
              <a:t>says</a:t>
            </a:r>
            <a:endParaRPr lang="zh-CN" altLang="en-US" sz="3600" b="0" i="0" u="none" strike="noStrike" kern="1200" cap="none" spc="0" baseline="0">
              <a:solidFill>
                <a:srgbClr val="EC817E"/>
              </a:solidFill>
              <a:latin typeface="Cooper Black" pitchFamily="18" charset="0"/>
              <a:ea typeface="宋体" pitchFamily="0" charset="0"/>
              <a:cs typeface="Lucida Sans"/>
            </a:endParaRPr>
          </a:p>
        </p:txBody>
      </p:sp>
      <p:sp>
        <p:nvSpPr>
          <p:cNvPr id="33" name="文本框"/>
          <p:cNvSpPr>
            <a:spLocks noGrp="1"/>
          </p:cNvSpPr>
          <p:nvPr>
            <p:ph type="body" idx="2"/>
          </p:nvPr>
        </p:nvSpPr>
        <p:spPr>
          <a:xfrm rot="0">
            <a:off x="685800" y="1685926"/>
            <a:ext cx="5311775" cy="4532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5D6F1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“I often forget my assignment deadline.”</a:t>
            </a:r>
            <a:endParaRPr lang="en-US" altLang="zh-CN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5D6F1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“I have too many assignments to manage.”</a:t>
            </a:r>
            <a:endParaRPr lang="en-US" altLang="zh-CN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5D6F1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“I wish all my deadlines were in one place.”</a:t>
            </a:r>
            <a:endParaRPr lang="en-US" altLang="zh-CN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5D6F1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“I need reminders before the deadline.”</a:t>
            </a:r>
            <a:endParaRPr lang="zh-CN" altLang="en-US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</p:txBody>
      </p:sp>
      <p:sp>
        <p:nvSpPr>
          <p:cNvPr id="34" name="文本框"/>
          <p:cNvSpPr>
            <a:spLocks noGrp="1"/>
          </p:cNvSpPr>
          <p:nvPr>
            <p:ph type="body" idx="3"/>
          </p:nvPr>
        </p:nvSpPr>
        <p:spPr>
          <a:xfrm rot="0">
            <a:off x="6400800" y="904876"/>
            <a:ext cx="5105400" cy="7810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79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EC817E"/>
                </a:solidFill>
                <a:latin typeface="Cooper Black" pitchFamily="18" charset="0"/>
                <a:ea typeface="宋体" pitchFamily="0" charset="0"/>
                <a:cs typeface="Lucida Sans"/>
              </a:rPr>
              <a:t>           </a:t>
            </a:r>
            <a:r>
              <a:rPr lang="en-US" altLang="zh-CN" sz="3600" b="0" i="0" u="none" strike="noStrike" kern="1200" cap="none" spc="0" baseline="0">
                <a:solidFill>
                  <a:srgbClr val="EC817E"/>
                </a:solidFill>
                <a:latin typeface="Cooper Black" pitchFamily="18" charset="0"/>
                <a:ea typeface="宋体" pitchFamily="0" charset="0"/>
                <a:cs typeface="Lucida Sans"/>
              </a:rPr>
              <a:t>Think</a:t>
            </a:r>
            <a:r>
              <a:rPr lang="en-US" altLang="zh-CN" sz="2800" b="0" i="0" u="none" strike="noStrike" kern="1200" cap="none" spc="0" baseline="0">
                <a:solidFill>
                  <a:srgbClr val="EC817E"/>
                </a:solidFill>
                <a:latin typeface="Cooper Black" pitchFamily="18" charset="0"/>
                <a:ea typeface="宋体" pitchFamily="0" charset="0"/>
                <a:cs typeface="Lucida Sans"/>
              </a:rPr>
              <a:t> </a:t>
            </a:r>
            <a:endParaRPr lang="zh-CN" altLang="en-US" sz="2800" b="0" i="0" u="none" strike="noStrike" kern="1200" cap="none" spc="0" baseline="0">
              <a:solidFill>
                <a:srgbClr val="EC817E"/>
              </a:solidFill>
              <a:latin typeface="Century Gothic" pitchFamily="0" charset="0"/>
              <a:ea typeface="宋体" pitchFamily="0" charset="0"/>
              <a:cs typeface="Lucida Sans"/>
            </a:endParaRPr>
          </a:p>
        </p:txBody>
      </p:sp>
      <p:sp>
        <p:nvSpPr>
          <p:cNvPr id="35" name="文本框"/>
          <p:cNvSpPr>
            <a:spLocks noGrp="1"/>
          </p:cNvSpPr>
          <p:nvPr>
            <p:ph type="body" idx="4"/>
          </p:nvPr>
        </p:nvSpPr>
        <p:spPr>
          <a:xfrm rot="0">
            <a:off x="6172200" y="1685925"/>
            <a:ext cx="5334000" cy="45327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5D6F1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”I should manage my time better.”</a:t>
            </a:r>
            <a:endParaRPr lang="en-US" altLang="zh-CN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5D6F1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“what if I miss another deadlines?”.</a:t>
            </a:r>
            <a:endParaRPr lang="en-US" altLang="zh-CN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5D6F1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“ A reminder would help me stay on track”.</a:t>
            </a:r>
            <a:endParaRPr lang="en-US" altLang="zh-CN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5D6F1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“I need an easier way to organize my assignment</a:t>
            </a:r>
            <a:endParaRPr lang="en-US" altLang="zh-CN" sz="20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entury Gothic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8693766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"/>
          <p:cNvSpPr>
            <a:spLocks noGrp="1"/>
          </p:cNvSpPr>
          <p:nvPr>
            <p:ph type="title"/>
          </p:nvPr>
        </p:nvSpPr>
        <p:spPr>
          <a:xfrm rot="0">
            <a:off x="400051" y="114301"/>
            <a:ext cx="6753224" cy="11048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all" spc="0" baseline="0">
                <a:solidFill>
                  <a:schemeClr val="tx1"/>
                </a:solidFill>
                <a:latin typeface="Algerian" pitchFamily="82" charset="0"/>
                <a:ea typeface="宋体" pitchFamily="0" charset="0"/>
                <a:cs typeface="Lucida Sans"/>
              </a:rPr>
              <a:t> Empathy map : does   &amp; feels    </a:t>
            </a:r>
            <a:endParaRPr lang="zh-CN" altLang="en-US" sz="3200" b="0" i="0" u="none" strike="noStrike" kern="1200" cap="all" spc="0" baseline="0">
              <a:solidFill>
                <a:schemeClr val="tx1"/>
              </a:solidFill>
              <a:latin typeface="Algerian" pitchFamily="82" charset="0"/>
              <a:ea typeface="宋体" pitchFamily="0" charset="0"/>
              <a:cs typeface="Lucida Sans"/>
            </a:endParaRPr>
          </a:p>
        </p:txBody>
      </p:sp>
      <p:sp>
        <p:nvSpPr>
          <p:cNvPr id="37" name="文本框"/>
          <p:cNvSpPr>
            <a:spLocks noGrp="1"/>
          </p:cNvSpPr>
          <p:nvPr>
            <p:ph type="body" idx="1"/>
          </p:nvPr>
        </p:nvSpPr>
        <p:spPr>
          <a:xfrm rot="0">
            <a:off x="682625" y="942975"/>
            <a:ext cx="5311775" cy="8477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chemeClr val="tx1"/>
                </a:solidFill>
                <a:latin typeface="Arial Black" pitchFamily="34" charset="0"/>
                <a:ea typeface="宋体" pitchFamily="0" charset="0"/>
                <a:cs typeface="Lucida Sans"/>
              </a:rPr>
              <a:t>         </a:t>
            </a:r>
            <a:r>
              <a:rPr lang="en-US" altLang="zh-CN" sz="3600" b="0" i="0" u="none" strike="noStrike" kern="1200" cap="none" spc="0" baseline="0">
                <a:solidFill>
                  <a:srgbClr val="B4D78D"/>
                </a:solidFill>
                <a:latin typeface="Arial Black" pitchFamily="34" charset="0"/>
                <a:ea typeface="宋体" pitchFamily="0" charset="0"/>
                <a:cs typeface="Lucida Sans"/>
              </a:rPr>
              <a:t>Does  </a:t>
            </a:r>
            <a:endParaRPr lang="zh-CN" altLang="en-US" sz="3600" b="0" i="0" u="none" strike="noStrike" kern="1200" cap="none" spc="0" baseline="0">
              <a:solidFill>
                <a:srgbClr val="B4D78D"/>
              </a:solidFill>
              <a:latin typeface="Arial Black" pitchFamily="34" charset="0"/>
              <a:ea typeface="宋体" pitchFamily="0" charset="0"/>
              <a:cs typeface="Lucida Sans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body" idx="2"/>
          </p:nvPr>
        </p:nvSpPr>
        <p:spPr>
          <a:xfrm rot="0">
            <a:off x="685800" y="1981200"/>
            <a:ext cx="5311775" cy="423748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4D78D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Uses phone notes or a calendar to track deadlines.</a:t>
            </a:r>
            <a:endParaRPr lang="en-US" altLang="zh-CN" sz="20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0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4D78D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Asks classmates about assignment deadlines.</a:t>
            </a:r>
            <a:endParaRPr lang="en-US" altLang="zh-CN" sz="20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0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4D78D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Checks message and college platforms for updates.</a:t>
            </a:r>
            <a:endParaRPr lang="en-US" altLang="zh-CN" sz="20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0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4D78D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Often compete assignments at the last.</a:t>
            </a:r>
            <a:endParaRPr lang="en-US" altLang="zh-CN" sz="20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</p:txBody>
      </p:sp>
      <p:sp>
        <p:nvSpPr>
          <p:cNvPr id="39" name="文本框"/>
          <p:cNvSpPr>
            <a:spLocks noGrp="1"/>
          </p:cNvSpPr>
          <p:nvPr>
            <p:ph type="body" idx="3"/>
          </p:nvPr>
        </p:nvSpPr>
        <p:spPr>
          <a:xfrm rot="0">
            <a:off x="6194424" y="942975"/>
            <a:ext cx="5311774" cy="8477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chemeClr val="tx1"/>
                </a:solidFill>
                <a:latin typeface="Arial Black" pitchFamily="34" charset="0"/>
                <a:ea typeface="宋体" pitchFamily="0" charset="0"/>
                <a:cs typeface="Lucida Sans"/>
              </a:rPr>
              <a:t>       </a:t>
            </a:r>
            <a:r>
              <a:rPr lang="en-US" altLang="zh-CN" sz="3600" b="0" i="0" u="none" strike="noStrike" kern="1200" cap="none" spc="0" baseline="0">
                <a:solidFill>
                  <a:srgbClr val="B4D78D"/>
                </a:solidFill>
                <a:latin typeface="Arial Black" pitchFamily="34" charset="0"/>
                <a:ea typeface="宋体" pitchFamily="0" charset="0"/>
                <a:cs typeface="Lucida Sans"/>
              </a:rPr>
              <a:t>Feels</a:t>
            </a:r>
            <a:endParaRPr lang="zh-CN" altLang="en-US" sz="3600" b="0" i="0" u="none" strike="noStrike" kern="1200" cap="none" spc="0" baseline="0">
              <a:solidFill>
                <a:srgbClr val="B4D78D"/>
              </a:solidFill>
              <a:latin typeface="Century Gothic" pitchFamily="0" charset="0"/>
              <a:ea typeface="宋体" pitchFamily="0" charset="0"/>
              <a:cs typeface="Lucida Sans"/>
            </a:endParaRPr>
          </a:p>
        </p:txBody>
      </p:sp>
      <p:sp>
        <p:nvSpPr>
          <p:cNvPr id="40" name="文本框"/>
          <p:cNvSpPr>
            <a:spLocks noGrp="1"/>
          </p:cNvSpPr>
          <p:nvPr>
            <p:ph type="body" idx="4"/>
          </p:nvPr>
        </p:nvSpPr>
        <p:spPr>
          <a:xfrm rot="0">
            <a:off x="6172200" y="1981200"/>
            <a:ext cx="5334000" cy="423748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4D78D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Feels stressed when deadlines are approaching .</a:t>
            </a:r>
            <a:endParaRPr lang="en-US" altLang="zh-CN" sz="20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0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4D78D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Feels worried about missing submission.</a:t>
            </a:r>
            <a:endParaRPr lang="en-US" altLang="zh-CN" sz="20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0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4D78D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Feels frustrated when managing multiple assignments.</a:t>
            </a:r>
            <a:endParaRPr lang="en-US" altLang="zh-CN" sz="20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0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rgbClr val="B4D78D"/>
                </a:solidFill>
                <a:latin typeface="Segoe UI Black" pitchFamily="34" charset="0"/>
                <a:ea typeface="Segoe UI Black" pitchFamily="34" charset="0"/>
                <a:cs typeface="Lucida Sans"/>
              </a:rPr>
              <a:t>Feels happy and confident when assignment are submitted on time .</a:t>
            </a:r>
            <a:endParaRPr lang="zh-CN" altLang="en-US" sz="20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028946983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"/>
          <p:cNvSpPr>
            <a:spLocks/>
          </p:cNvSpPr>
          <p:nvPr/>
        </p:nvSpPr>
        <p:spPr>
          <a:xfrm rot="0">
            <a:off x="247650" y="342899"/>
            <a:ext cx="11372850" cy="58169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Algerian" pitchFamily="82" charset="0"/>
                <a:ea typeface="宋体" pitchFamily="0" charset="0"/>
                <a:cs typeface="Century Gothic" pitchFamily="0" charset="0"/>
              </a:rPr>
              <a:t>Proposed Solution: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Algerian" pitchFamily="82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B5D6F1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A Student Assignment Reminder App that helps students organize and complete their assignments on time.</a:t>
            </a:r>
            <a:endParaRPr lang="en-US" altLang="zh-CN" sz="24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82E0CE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Key Features:</a:t>
            </a:r>
            <a:endParaRPr lang="en-US" altLang="zh-CN" sz="2800" b="0" i="0" u="none" strike="noStrike" kern="1200" cap="none" spc="0" baseline="0">
              <a:solidFill>
                <a:srgbClr val="82E0CE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0" i="0" u="none" strike="noStrike" kern="1200" cap="none" spc="0" baseline="0">
                <a:solidFill>
                  <a:srgbClr val="B5D6F1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📅 Assignment deadline tracker</a:t>
            </a:r>
            <a:endParaRPr lang="en-US" altLang="zh-CN" sz="24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0" i="0" u="none" strike="noStrike" kern="1200" cap="none" spc="0" baseline="0">
                <a:solidFill>
                  <a:srgbClr val="B5D6F1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🔔 Timely reminder notifications</a:t>
            </a:r>
            <a:endParaRPr lang="en-US" altLang="zh-CN" sz="24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B5D6F1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✅ Task completion tracking</a:t>
            </a:r>
            <a:endParaRPr lang="en-US" altLang="zh-CN" sz="24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0" i="0" u="none" strike="noStrike" kern="1200" cap="none" spc="0" baseline="0">
                <a:solidFill>
                  <a:srgbClr val="B5D6F1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🗓️ Calendar integration</a:t>
            </a:r>
            <a:endParaRPr lang="en-US" altLang="zh-CN" sz="24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0" i="0" u="none" strike="noStrike" kern="1200" cap="none" spc="0" baseline="0">
                <a:solidFill>
                  <a:srgbClr val="B5D6F1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📊 Assignment progress monitoring</a:t>
            </a:r>
            <a:endParaRPr lang="en-US" altLang="zh-CN" sz="24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rgbClr val="B5D6F1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FFCDA3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Main Goal:</a:t>
            </a:r>
            <a:endParaRPr lang="en-US" altLang="zh-CN" sz="2400" b="0" i="0" u="none" strike="noStrike" kern="1200" cap="none" spc="0" baseline="0">
              <a:solidFill>
                <a:srgbClr val="FFCDA3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F8D5D4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Help students stay organized, reduce stress, and never miss an assignment deadline</a:t>
            </a:r>
            <a:endParaRPr lang="zh-CN" altLang="en-US" sz="2400" b="0" i="0" u="none" strike="noStrike" kern="1200" cap="none" spc="0" baseline="0">
              <a:solidFill>
                <a:srgbClr val="F8D5D4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</p:txBody>
      </p:sp>
      <p:pic>
        <p:nvPicPr>
          <p:cNvPr id="42" name="图片"/>
          <p:cNvPicPr>
            <a:picLocks noChangeAspect="1"/>
          </p:cNvPicPr>
          <p:nvPr/>
        </p:nvPicPr>
        <p:blipFill>
          <a:blip r:embed="rId1" cstate="print"/>
          <a:srcRect t="17083" l="47685"/>
          <a:stretch>
            <a:fillRect/>
          </a:stretch>
        </p:blipFill>
        <p:spPr>
          <a:xfrm rot="0">
            <a:off x="6715126" y="1570621"/>
            <a:ext cx="4524374" cy="3458579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019719425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"/>
          <p:cNvSpPr>
            <a:spLocks/>
          </p:cNvSpPr>
          <p:nvPr/>
        </p:nvSpPr>
        <p:spPr>
          <a:xfrm flipH="1" rot="0">
            <a:off x="600075" y="390525"/>
            <a:ext cx="10696573" cy="53860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0" i="0" u="none" strike="noStrike" kern="1200" cap="none" spc="0" baseline="0">
                <a:solidFill>
                  <a:schemeClr val="tx1"/>
                </a:solidFill>
                <a:latin typeface="Algerian" pitchFamily="82" charset="0"/>
                <a:ea typeface="宋体" pitchFamily="0" charset="0"/>
                <a:cs typeface="Century Gothic" pitchFamily="0" charset="0"/>
              </a:rPr>
              <a:t>Benefits :</a:t>
            </a:r>
            <a:endParaRPr lang="en-US" altLang="zh-CN" sz="4000" b="0" i="0" u="none" strike="noStrike" kern="1200" cap="none" spc="0" baseline="0">
              <a:solidFill>
                <a:schemeClr val="tx1"/>
              </a:solidFill>
              <a:latin typeface="Algerian" pitchFamily="82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4000" b="0" i="0" u="none" strike="noStrike" kern="1200" cap="none" spc="0" baseline="0">
              <a:solidFill>
                <a:schemeClr val="tx1"/>
              </a:solidFill>
              <a:latin typeface="Algerian" pitchFamily="82" charset="0"/>
              <a:ea typeface="宋体" pitchFamily="0" charset="0"/>
              <a:cs typeface="Century Gothic" pitchFamily="0" charset="0"/>
            </a:endParaRP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400" b="0" i="0" u="none" strike="noStrike" kern="1200" cap="none" spc="0" baseline="0">
                <a:solidFill>
                  <a:srgbClr val="B4D78D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Better  time management .</a:t>
            </a:r>
            <a:endParaRPr lang="en-US" altLang="zh-CN" sz="24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4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400" b="0" i="0" u="none" strike="noStrike" kern="1200" cap="none" spc="0" baseline="0">
                <a:solidFill>
                  <a:srgbClr val="B4D78D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Fewer missed deadlines.</a:t>
            </a:r>
            <a:endParaRPr lang="en-US" altLang="zh-CN" sz="24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4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400" b="0" i="0" u="none" strike="noStrike" kern="1200" cap="none" spc="0" baseline="0">
                <a:solidFill>
                  <a:srgbClr val="B4D78D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Reduced academic stress.</a:t>
            </a:r>
            <a:endParaRPr lang="en-US" altLang="zh-CN" sz="24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4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400" b="0" i="0" u="none" strike="noStrike" kern="1200" cap="none" spc="0" baseline="0">
                <a:solidFill>
                  <a:srgbClr val="B4D78D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Improved productivity.</a:t>
            </a:r>
            <a:endParaRPr lang="en-US" altLang="zh-CN" sz="24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4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400" b="0" i="0" u="none" strike="noStrike" kern="1200" cap="none" spc="0" baseline="0">
                <a:solidFill>
                  <a:srgbClr val="B4D78D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Better assignment organization.</a:t>
            </a:r>
            <a:endParaRPr lang="en-US" altLang="zh-CN" sz="24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4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400" b="0" i="0" u="none" strike="noStrike" kern="1200" cap="none" spc="0" baseline="0">
                <a:solidFill>
                  <a:srgbClr val="B4D78D"/>
                </a:solidFill>
                <a:latin typeface="Segoe UI Black" pitchFamily="34" charset="0"/>
                <a:ea typeface="Segoe UI Black" pitchFamily="34" charset="0"/>
                <a:cs typeface="Century Gothic" pitchFamily="0" charset="0"/>
              </a:rPr>
              <a:t>Improved academic performance.</a:t>
            </a:r>
            <a:endParaRPr lang="zh-CN" altLang="en-US" sz="2400" b="0" i="0" u="none" strike="noStrike" kern="1200" cap="none" spc="0" baseline="0">
              <a:solidFill>
                <a:srgbClr val="B4D78D"/>
              </a:solidFill>
              <a:latin typeface="Segoe UI Black" pitchFamily="34" charset="0"/>
              <a:ea typeface="Segoe UI Black" pitchFamily="34" charset="0"/>
              <a:cs typeface="Century Gothic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948324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"/>
          <p:cNvSpPr>
            <a:spLocks/>
          </p:cNvSpPr>
          <p:nvPr/>
        </p:nvSpPr>
        <p:spPr>
          <a:xfrm rot="0">
            <a:off x="438149" y="257176"/>
            <a:ext cx="11325224" cy="710154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Algerian" pitchFamily="82" charset="0"/>
                <a:ea typeface="宋体" pitchFamily="0" charset="0"/>
                <a:cs typeface="Century Gothic" pitchFamily="0" charset="0"/>
              </a:rPr>
              <a:t>Conclusion :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Algerian" pitchFamily="82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F8D5D4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Understanding students through a User Persona and Empathy Map helps us  identify their problems , needs, and emotions.</a:t>
            </a:r>
            <a:endParaRPr lang="en-US" altLang="zh-CN" sz="2400" b="0" i="0" u="none" strike="noStrike" kern="1200" cap="none" spc="0" baseline="0">
              <a:solidFill>
                <a:srgbClr val="F8D5D4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rgbClr val="F8D5D4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C19815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A Student  Assignment Reminder App can help </a:t>
            </a:r>
            <a:endParaRPr lang="en-US" altLang="zh-CN" sz="2400" b="0" i="0" u="none" strike="noStrike" kern="1200" cap="none" spc="0" baseline="0">
              <a:solidFill>
                <a:srgbClr val="C19815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C19815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Students:</a:t>
            </a:r>
            <a:endParaRPr lang="en-US" altLang="zh-CN" sz="2400" b="0" i="0" u="none" strike="noStrike" kern="1200" cap="none" spc="0" baseline="0">
              <a:solidFill>
                <a:srgbClr val="C19815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400" b="0" i="0" u="none" strike="noStrike" kern="1200" cap="none" spc="0" baseline="0">
                <a:solidFill>
                  <a:srgbClr val="F1D785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Stay  organized.</a:t>
            </a:r>
            <a:endParaRPr lang="en-US" altLang="zh-CN" sz="2400" b="0" i="0" u="none" strike="noStrike" kern="1200" cap="none" spc="0" baseline="0">
              <a:solidFill>
                <a:srgbClr val="F1D785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400" b="0" i="0" u="none" strike="noStrike" kern="1200" cap="none" spc="0" baseline="0">
              <a:solidFill>
                <a:srgbClr val="F1D785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400" b="0" i="0" u="none" strike="noStrike" kern="1200" cap="none" spc="0" baseline="0">
                <a:solidFill>
                  <a:srgbClr val="F1D785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Manage their time effectively.</a:t>
            </a:r>
            <a:endParaRPr lang="en-US" altLang="zh-CN" sz="2400" b="0" i="0" u="none" strike="noStrike" kern="1200" cap="none" spc="0" baseline="0">
              <a:solidFill>
                <a:srgbClr val="F1D785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400" b="0" i="0" u="none" strike="noStrike" kern="1200" cap="none" spc="0" baseline="0">
              <a:solidFill>
                <a:srgbClr val="F1D785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400" b="0" i="0" u="none" strike="noStrike" kern="1200" cap="none" spc="0" baseline="0">
                <a:solidFill>
                  <a:srgbClr val="F1D785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Reduce academic stress.</a:t>
            </a:r>
            <a:endParaRPr lang="en-US" altLang="zh-CN" sz="2400" b="0" i="0" u="none" strike="noStrike" kern="1200" cap="none" spc="0" baseline="0">
              <a:solidFill>
                <a:srgbClr val="F1D785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en-US" altLang="zh-CN" sz="2400" b="0" i="0" u="none" strike="noStrike" kern="1200" cap="none" spc="0" baseline="0">
              <a:solidFill>
                <a:srgbClr val="F1D785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400" b="0" i="0" u="none" strike="noStrike" kern="1200" cap="none" spc="0" baseline="0">
                <a:solidFill>
                  <a:srgbClr val="F1D785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Avoid missing deadlines and submit assignments on time.</a:t>
            </a:r>
            <a:endParaRPr lang="en-US" altLang="zh-CN" sz="2400" b="0" i="0" u="none" strike="noStrike" kern="1200" cap="none" spc="0" baseline="0">
              <a:solidFill>
                <a:srgbClr val="F1D785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 Rounded MT Bold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DAEAF8"/>
                </a:solidFill>
                <a:latin typeface="Arial Rounded MT Bold" pitchFamily="34" charset="0"/>
                <a:ea typeface="宋体" pitchFamily="0" charset="0"/>
                <a:cs typeface="Century Gothic" pitchFamily="0" charset="0"/>
              </a:rPr>
              <a:t>Final message-</a:t>
            </a:r>
            <a:endParaRPr lang="en-US" altLang="zh-CN" sz="2400" b="0" i="0" u="none" strike="noStrike" kern="1200" cap="none" spc="0" baseline="0">
              <a:solidFill>
                <a:srgbClr val="DAEAF8"/>
              </a:solidFill>
              <a:latin typeface="Arial Rounded MT Bold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DAEAF8"/>
                </a:solidFill>
                <a:latin typeface="Arial Rounded MT Bold" pitchFamily="34" charset="0"/>
                <a:ea typeface="宋体" pitchFamily="0" charset="0"/>
                <a:cs typeface="Century Gothic" pitchFamily="0" charset="0"/>
              </a:rPr>
              <a:t>“Better planning leads to better performance.</a:t>
            </a:r>
            <a:r>
              <a:rPr lang="en-US" altLang="zh-CN" sz="2400" b="0" i="0" u="none" strike="noStrike" kern="1200" cap="none" spc="0" baseline="0">
                <a:solidFill>
                  <a:srgbClr val="DAEAF8"/>
                </a:solidFill>
                <a:latin typeface="Arial Black" pitchFamily="34" charset="0"/>
                <a:ea typeface="宋体" pitchFamily="0" charset="0"/>
                <a:cs typeface="Century Gothic" pitchFamily="0" charset="0"/>
              </a:rPr>
              <a:t>”</a:t>
            </a:r>
            <a:endParaRPr lang="en-US" altLang="zh-CN" sz="2400" b="0" i="0" u="none" strike="noStrike" kern="1200" cap="none" spc="0" baseline="0">
              <a:solidFill>
                <a:srgbClr val="DAEAF8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rial Black" pitchFamily="34" charset="0"/>
              <a:ea typeface="宋体" pitchFamily="0" charset="0"/>
              <a:cs typeface="Century Gothic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997268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"/>
          <p:cNvSpPr>
            <a:spLocks/>
          </p:cNvSpPr>
          <p:nvPr/>
        </p:nvSpPr>
        <p:spPr>
          <a:xfrm rot="0">
            <a:off x="1895476" y="2066925"/>
            <a:ext cx="6291262" cy="15696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600" b="1" i="0" u="none" strike="noStrike" kern="1200" cap="none" spc="0" baseline="0">
                <a:solidFill>
                  <a:schemeClr val="tx1"/>
                </a:solidFill>
                <a:latin typeface="Vladimir Script" pitchFamily="66" charset="0"/>
                <a:ea typeface="宋体" pitchFamily="0" charset="0"/>
                <a:cs typeface="Century Gothic" pitchFamily="0" charset="0"/>
              </a:rPr>
              <a:t>Thank you.</a:t>
            </a:r>
            <a:endParaRPr lang="zh-CN" altLang="en-US" sz="9600" b="1" i="0" u="none" strike="noStrike" kern="1200" cap="none" spc="0" baseline="0">
              <a:solidFill>
                <a:schemeClr val="tx1"/>
              </a:solidFill>
              <a:latin typeface="Vladimir Script" pitchFamily="66" charset="0"/>
              <a:ea typeface="宋体" pitchFamily="0" charset="0"/>
              <a:cs typeface="Century Gothic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9530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rgbClr val="FFFFFF"/>
      </a:dk1>
      <a:lt1>
        <a:srgbClr val="000000"/>
      </a:lt1>
      <a:dk2>
        <a:srgbClr val="DADADA"/>
      </a:dk2>
      <a:lt2>
        <a:srgbClr val="454545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Vapor Trail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215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Shree</dc:creator>
  <cp:lastModifiedBy>root</cp:lastModifiedBy>
  <cp:revision>24</cp:revision>
  <dcterms:created xsi:type="dcterms:W3CDTF">2026-08-14T14:01:03Z</dcterms:created>
  <dcterms:modified xsi:type="dcterms:W3CDTF">2026-08-18T22:34:42Z</dcterms:modified>
</cp:coreProperties>
</file>